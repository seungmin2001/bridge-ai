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9db7f216f664c01" /><Relationship Type="http://schemas.openxmlformats.org/officeDocument/2006/relationships/extended-properties" Target="/docProps/app.xml" Id="Rd5c46dd1093a49df" /><Relationship Type="http://schemas.openxmlformats.org/officeDocument/2006/relationships/officeDocument" Target="/ppt/presentation.xml" Id="R84a2c21a056a42d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65adadcd3f84e38"/>
  </p:sldMasterIdLst>
  <p:notesMasterIdLst>
    <p:notesMasterId xmlns:r="http://schemas.openxmlformats.org/officeDocument/2006/relationships" r:id="R434183f5e59540df"/>
  </p:notesMasterIdLst>
  <p:sldIdLst>
    <p:sldId xmlns:r="http://schemas.openxmlformats.org/officeDocument/2006/relationships" id="256" r:id="Rb393b3f35039491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5adadcd3f84e38" /><Relationship Type="http://schemas.openxmlformats.org/officeDocument/2006/relationships/theme" Target="/ppt/theme/theme1.xml" Id="R8101adce2661489c" /><Relationship Type="http://schemas.openxmlformats.org/officeDocument/2006/relationships/notesMaster" Target="/ppt/notesMasters/notesMaster1.xml" Id="R434183f5e59540df" /><Relationship Type="http://schemas.openxmlformats.org/officeDocument/2006/relationships/presProps" Target="/ppt/presProps.xml" Id="R52ac22244fb64401" /><Relationship Type="http://schemas.openxmlformats.org/officeDocument/2006/relationships/viewProps" Target="/ppt/viewProps.xml" Id="R8642b1ea87e74c2c" /><Relationship Type="http://schemas.openxmlformats.org/officeDocument/2006/relationships/tableStyles" Target="/ppt/tableStyles.xml" Id="Rc130a317720f4e31" /><Relationship Type="http://schemas.openxmlformats.org/officeDocument/2006/relationships/slide" Target="/ppt/slides/slide1.xml" Id="Rb393b3f35039491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ba7d750ed897407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443c2b66ae34d75" /><Relationship Type="http://schemas.openxmlformats.org/officeDocument/2006/relationships/notesMaster" Target="/ppt/notesMasters/notesMaster1.xml" Id="R179eede06b2547f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25a7c3f24f4ec3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3c50b359af0745fe" /><Relationship Type="http://schemas.openxmlformats.org/officeDocument/2006/relationships/slideLayout" Target="/ppt/slideLayouts/slideLayout2.xml" Id="Re47f84132784498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47f84132784498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af7410a5b1342f2" /><Relationship Type="http://schemas.openxmlformats.org/officeDocument/2006/relationships/notesSlide" Target="/ppt/notesSlides/notesSlide1.xml" Id="Rf9f5e20b24c1454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9208717-F721-43A6-9CCA-F60865FB5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F13592-B95C-4DB8-81AD-E3AEBA2FE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266700"/>
            <a:ext cx="1485900" cy="49530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8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795359-8040-45B8-9798-3C56736B0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66700"/>
            <a:ext cx="1866900" cy="495300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98C3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CEED48-0D35-42A2-936C-33FEAAD40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66700"/>
            <a:ext cx="2743200" cy="49530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F303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AEFEF0-0F83-49F0-AB01-B2E7D3276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66700"/>
            <a:ext cx="2743200" cy="49530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EA5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7376B2-740B-442D-AABB-7A145547A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66700"/>
            <a:ext cx="1714500" cy="49530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046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6D4BF2-1F47-4548-91AF-A904686A1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9550" y="2590800"/>
            <a:ext cx="476250" cy="11049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8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ECEC5B-3195-4CB2-A7D3-926AF7609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33400"/>
            <a:ext cx="1028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458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458FF"/>
                </a:solidFill>
                <a:latin typeface="Aptos"/>
                <a:ea typeface="Aptos"/>
                <a:cs typeface="Aptos"/>
              </a:rPr>
              <a:t>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C2CD87-50FB-4890-9B94-8CE94EFE5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81050"/>
            <a:ext cx="1028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33F"/>
                </a:solidFill>
                <a:latin typeface="Aptos Italic"/>
                <a:ea typeface="Aptos Italic"/>
                <a:cs typeface="Aptos Italic"/>
              </a:defRPr>
            </a:pPr>
            <a:r>
              <a:rPr sz="1200" b="1">
                <a:solidFill>
                  <a:srgbClr val="18233F"/>
                </a:solidFill>
                <a:latin typeface="Aptos Italic"/>
                <a:ea typeface="Aptos Italic"/>
                <a:cs typeface="Aptos Italic"/>
              </a:rPr>
              <a:t>Q + 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A3DADA-9C2F-48D2-A215-CF17BF380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200150"/>
            <a:ext cx="1104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458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458FF"/>
                </a:solidFill>
                <a:latin typeface="Aptos"/>
                <a:ea typeface="Aptos"/>
                <a:cs typeface="Aptos"/>
              </a:rPr>
              <a:t>Question (Q)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47CECA-56D0-4900-8198-E44D5137C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7239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A94A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5AD463-C4E8-4F79-BAD6-D65334C31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0495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458FF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2458FF"/>
                </a:solidFill>
                <a:latin typeface="Aptos"/>
                <a:ea typeface="Aptos"/>
                <a:cs typeface="Aptos"/>
              </a:rPr>
              <a:t>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74A493-8FEB-4E22-B4B6-004CCF0AC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38300"/>
            <a:ext cx="2286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5240">
            <a:solidFill>
              <a:srgbClr val="8A94A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9C5E66-3D54-4551-B32A-D258AB363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90700"/>
            <a:ext cx="2286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5240">
            <a:solidFill>
              <a:srgbClr val="8A94A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8FCCBB-C20A-41A5-86F6-B7F864374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81250"/>
            <a:ext cx="76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458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2458FF"/>
                </a:solidFill>
                <a:latin typeface="Aptos"/>
                <a:ea typeface="Aptos"/>
                <a:cs typeface="Aptos"/>
              </a:rPr>
              <a:t>+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C2BFB6-6F3E-4E35-8E41-0339A7A3B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276600"/>
            <a:ext cx="1104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458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458FF"/>
                </a:solidFill>
                <a:latin typeface="Aptos"/>
                <a:ea typeface="Aptos"/>
                <a:cs typeface="Aptos"/>
              </a:rPr>
              <a:t>Passage (P)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906EB3-5B23-446F-B681-F1EFB5C8B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0"/>
            <a:ext cx="7239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A94A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B9E064-478A-49FC-B15C-3EF9FC5A1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338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8A94A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8A94A8"/>
                </a:solidFill>
                <a:latin typeface="Aptos"/>
                <a:ea typeface="Aptos"/>
                <a:cs typeface="Aptos"/>
              </a:rPr>
              <a:t>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68992D-4069-48F2-9A1C-6EC25C174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00500"/>
            <a:ext cx="2286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5240">
            <a:solidFill>
              <a:srgbClr val="8A94A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B3E563-B48A-48AC-BA72-85607E462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3340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98C3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98C31"/>
                </a:solidFill>
                <a:latin typeface="Aptos"/>
                <a:ea typeface="Aptos"/>
                <a:cs typeface="Aptos"/>
              </a:rPr>
              <a:t>MLP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7DB4F0-FFD4-46CB-833C-FCAE31FF3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781050"/>
            <a:ext cx="1371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33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8233F"/>
                </a:solidFill>
                <a:latin typeface="Aptos"/>
                <a:ea typeface="Aptos"/>
                <a:cs typeface="Aptos"/>
              </a:rPr>
              <a:t>(Neural Network)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B2AAF7-6BCE-4DB9-80A5-6C07E3E10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533650"/>
            <a:ext cx="381000" cy="-2857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98C3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566F8C-408E-4746-9307-90A212299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533650"/>
            <a:ext cx="381000" cy="2857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98C3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E154A9B-BF93-4CFD-86B2-FA9320E53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533650"/>
            <a:ext cx="381000" cy="8572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98C3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0172251-D172-45D0-A77C-A380D652E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533650"/>
            <a:ext cx="381000" cy="14287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98C3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85CCABD-F973-479E-87E6-C03278AE6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105150"/>
            <a:ext cx="381000" cy="-8572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98C3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0CF2A10-D018-4839-8499-07916277F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105150"/>
            <a:ext cx="381000" cy="-2857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98C3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2A474BB-E5A8-4EE3-A677-A14E93D7B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105150"/>
            <a:ext cx="381000" cy="2857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98C3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C9E8D5C-E022-49F0-BE6A-6E3AD2E68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105150"/>
            <a:ext cx="381000" cy="8572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98C3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60C02E6-87A2-4532-BD94-7A477A0A7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676650"/>
            <a:ext cx="381000" cy="-14287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98C3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938D2C5-0C34-4F6C-AC6E-286A6B27D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676650"/>
            <a:ext cx="381000" cy="-8572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98C31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99B2FF3-F423-4FD5-A5A6-61C463317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676650"/>
            <a:ext cx="381000" cy="-2857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98C3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82DB396-CF07-448D-8100-EBD5B5B11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676650"/>
            <a:ext cx="381000" cy="2857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98C31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F3796B2-135A-4ADB-A720-16AC228AC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247900"/>
            <a:ext cx="400050" cy="38100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98C31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FE4E675-C28F-4AC1-8E56-5C8EA6963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247900"/>
            <a:ext cx="400050" cy="95250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98C31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D4333EF-ECD5-4E78-9F89-A08C40A42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247900"/>
            <a:ext cx="400050" cy="152400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98C31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1A97014-C3BD-4745-B13C-40EAD5575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819400"/>
            <a:ext cx="400050" cy="-19050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98C31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E54395B-7055-4FEE-A446-08878E41D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819400"/>
            <a:ext cx="400050" cy="38100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98C31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ABB112F-1512-4E3D-AB2C-5AA05A763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819400"/>
            <a:ext cx="400050" cy="95250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98C31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A883AA0-9194-442D-99D2-1C39FA33D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390900"/>
            <a:ext cx="400050" cy="-76200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98C31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2DB2B10-284A-47CD-92AF-2A0769C67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390900"/>
            <a:ext cx="400050" cy="-19050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98C31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1BE76E0-E181-4D08-A4C4-788A8FF0C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390900"/>
            <a:ext cx="400050" cy="38100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98C31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7C18682-D021-4D8F-B2CC-62DA9D4D6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962400"/>
            <a:ext cx="400050" cy="-133350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98C31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B827CAA-23E5-43EC-B4C9-BC227572C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962400"/>
            <a:ext cx="400050" cy="-76200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98C31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78872EC-06CA-4056-B599-E1352648F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962400"/>
            <a:ext cx="400050" cy="-19050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98C31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42D1100-3335-4470-85D8-8237A405F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4384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98C31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0DE3E5F-A253-49E7-A1B6-0D8087014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0099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98C31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1A1A3A6-D1C4-4E16-95AB-C7D8C4846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5814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98C31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FBCAA73-8334-4604-B909-45F393895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1526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98C31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19F13C5-479C-4D94-AC9E-C58B76CB7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7241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98C31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EC50843-6DD1-4C6F-A2C3-442B30F05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2956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98C31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7E3ECA1-F935-4097-BC7C-59D8B440D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8671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98C31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1034516-B690-452A-8058-D4334C1E4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5336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98C31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33A7718-FD3B-497A-A501-0F44D8934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1051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98C31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838F17A-74D7-4034-AF0B-0CE7AC1F4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6766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98C31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8CB95F3-C103-4EAB-9CE6-B46764976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724150"/>
            <a:ext cx="762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18233F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10DD674-8FD2-485C-A4CE-B16585674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600325"/>
            <a:ext cx="152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233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33F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388EAC5-4870-497A-98A0-EAB5A7633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14350"/>
            <a:ext cx="2076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303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3030"/>
                </a:solidFill>
                <a:latin typeface="Aptos"/>
                <a:ea typeface="Aptos"/>
                <a:cs typeface="Aptos"/>
              </a:rPr>
              <a:t>K/V Memory Generation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2AB17B4-3FE5-417F-8CB7-51DC9023A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762000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303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3030"/>
                </a:solidFill>
                <a:latin typeface="Aptos"/>
                <a:ea typeface="Aptos"/>
                <a:cs typeface="Aptos"/>
              </a:rPr>
              <a:t>(with Adapter)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46E1296-0E3E-4BAE-81C9-747A030AA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181100"/>
            <a:ext cx="838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8233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8233F"/>
                </a:solidFill>
                <a:latin typeface="Aptos"/>
                <a:ea typeface="Aptos"/>
                <a:cs typeface="Aptos"/>
              </a:rPr>
              <a:t>K Memory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334C2DC-FE43-4B24-AA3F-615093770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4287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6FF">
              <a:alpha val="9412"/>
            </a:srgbClr>
          </a:solidFill>
          <a:ln xmlns:a="http://schemas.openxmlformats.org/drawingml/2006/main" w="15240">
            <a:solidFill>
              <a:srgbClr val="7046FF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6688D6D-6CB8-4437-927B-AAA2066A9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59067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6FF">
              <a:alpha val="9412"/>
            </a:srgbClr>
          </a:solidFill>
          <a:ln xmlns:a="http://schemas.openxmlformats.org/drawingml/2006/main" w="15240">
            <a:solidFill>
              <a:srgbClr val="7046FF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48B6098-B8CF-4890-A3CF-496090DEB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7526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6FF">
              <a:alpha val="9412"/>
            </a:srgbClr>
          </a:solidFill>
          <a:ln xmlns:a="http://schemas.openxmlformats.org/drawingml/2006/main" w="15240">
            <a:solidFill>
              <a:srgbClr val="7046FF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A4CED091-4FC6-43B4-88BA-08A504C7B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91452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6FF">
              <a:alpha val="9412"/>
            </a:srgbClr>
          </a:solidFill>
          <a:ln xmlns:a="http://schemas.openxmlformats.org/drawingml/2006/main" w="15240">
            <a:solidFill>
              <a:srgbClr val="7046FF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3EA8E83-A9EC-4727-A173-519994A98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0764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6FF">
              <a:alpha val="9412"/>
            </a:srgbClr>
          </a:solidFill>
          <a:ln xmlns:a="http://schemas.openxmlformats.org/drawingml/2006/main" w="15240">
            <a:solidFill>
              <a:srgbClr val="7046FF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0DF37602-96A7-482B-8382-E14E276D2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23837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6FF">
              <a:alpha val="9412"/>
            </a:srgbClr>
          </a:solidFill>
          <a:ln xmlns:a="http://schemas.openxmlformats.org/drawingml/2006/main" w="15240">
            <a:solidFill>
              <a:srgbClr val="7046FF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5292074-0DB6-42A7-96B2-DB94E4537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4003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6FF">
              <a:alpha val="9412"/>
            </a:srgbClr>
          </a:solidFill>
          <a:ln xmlns:a="http://schemas.openxmlformats.org/drawingml/2006/main" w="15240">
            <a:solidFill>
              <a:srgbClr val="7046FF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2D76B477-D141-42B5-974A-751913496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56222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6FF">
              <a:alpha val="9412"/>
            </a:srgbClr>
          </a:solidFill>
          <a:ln xmlns:a="http://schemas.openxmlformats.org/drawingml/2006/main" w="15240">
            <a:solidFill>
              <a:srgbClr val="7046FF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68D6B70E-1B1D-44E3-AEF8-A8BD9E149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076450"/>
            <a:ext cx="447675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5240">
            <a:solidFill>
              <a:srgbClr val="18233F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E479446B-477F-4E31-9B5D-C0F6A4A8F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1952625"/>
            <a:ext cx="152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233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33F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C85BCD8A-5110-4FA4-B98C-350F57EDB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828800"/>
            <a:ext cx="6667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F3030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2110A32A-ADFE-4256-B4BB-75DFA1C57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1914525"/>
            <a:ext cx="590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18233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8233F"/>
                </a:solidFill>
                <a:latin typeface="Aptos"/>
                <a:ea typeface="Aptos"/>
                <a:cs typeface="Aptos"/>
              </a:rPr>
              <a:t>Adapter</a:t>
            </a:r>
          </a:p>
          <a:p xmlns:a="http://schemas.openxmlformats.org/drawingml/2006/main">
            <a:pPr algn="ctr">
              <a:defRPr sz="825" b="0">
                <a:solidFill>
                  <a:srgbClr val="18233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8233F"/>
                </a:solidFill>
                <a:latin typeface="Aptos"/>
                <a:ea typeface="Aptos"/>
                <a:cs typeface="Aptos"/>
              </a:rPr>
              <a:t>(Linear)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5EDEFFFF-BA14-4FBF-BA58-E8E8B28BB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076450"/>
            <a:ext cx="3429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5240">
            <a:solidFill>
              <a:srgbClr val="18233F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A703135F-42B0-46B1-9D36-8E012E5E8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1952625"/>
            <a:ext cx="152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233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33F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C4BDBFAB-5577-4E5F-B2A2-2A6C3D3E3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4287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6FF">
              <a:alpha val="9412"/>
            </a:srgbClr>
          </a:solidFill>
          <a:ln xmlns:a="http://schemas.openxmlformats.org/drawingml/2006/main" w="15240">
            <a:solidFill>
              <a:srgbClr val="7046FF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1F7EFB51-4BC8-46AB-8290-B2F616635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59067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6FF">
              <a:alpha val="9412"/>
            </a:srgbClr>
          </a:solidFill>
          <a:ln xmlns:a="http://schemas.openxmlformats.org/drawingml/2006/main" w="15240">
            <a:solidFill>
              <a:srgbClr val="7046FF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110A1B94-230B-4A88-8171-785943B76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7526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6FF">
              <a:alpha val="9412"/>
            </a:srgbClr>
          </a:solidFill>
          <a:ln xmlns:a="http://schemas.openxmlformats.org/drawingml/2006/main" w="15240">
            <a:solidFill>
              <a:srgbClr val="7046FF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67C675F1-6263-4E7F-82E1-F52E394A3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91452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6FF">
              <a:alpha val="9412"/>
            </a:srgbClr>
          </a:solidFill>
          <a:ln xmlns:a="http://schemas.openxmlformats.org/drawingml/2006/main" w="15240">
            <a:solidFill>
              <a:srgbClr val="7046FF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FF3FCC47-9657-4D61-91C8-6F9D299F7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0764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6FF">
              <a:alpha val="9412"/>
            </a:srgbClr>
          </a:solidFill>
          <a:ln xmlns:a="http://schemas.openxmlformats.org/drawingml/2006/main" w="15240">
            <a:solidFill>
              <a:srgbClr val="7046FF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F713BE68-1550-48A6-9EEA-C3279F911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3837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6FF">
              <a:alpha val="9412"/>
            </a:srgbClr>
          </a:solidFill>
          <a:ln xmlns:a="http://schemas.openxmlformats.org/drawingml/2006/main" w="15240">
            <a:solidFill>
              <a:srgbClr val="7046FF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7EAC812E-35B7-4FA5-8F83-A171C85CE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4003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6FF">
              <a:alpha val="9412"/>
            </a:srgbClr>
          </a:solidFill>
          <a:ln xmlns:a="http://schemas.openxmlformats.org/drawingml/2006/main" w="15240">
            <a:solidFill>
              <a:srgbClr val="7046FF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ADB6453C-52AF-4D46-938E-DC4AB5A2D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56222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6FF">
              <a:alpha val="9412"/>
            </a:srgbClr>
          </a:solidFill>
          <a:ln xmlns:a="http://schemas.openxmlformats.org/drawingml/2006/main" w="15240">
            <a:solidFill>
              <a:srgbClr val="7046FF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8D6191E0-6A82-440E-BC72-1B6216CC8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57400"/>
            <a:ext cx="247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046FF"/>
                </a:solidFill>
                <a:latin typeface="Aptos Italic"/>
                <a:ea typeface="Aptos Italic"/>
                <a:cs typeface="Aptos Italic"/>
              </a:defRPr>
            </a:pPr>
            <a:r>
              <a:rPr sz="1350" b="1">
                <a:solidFill>
                  <a:srgbClr val="7046FF"/>
                </a:solidFill>
                <a:latin typeface="Aptos Italic"/>
                <a:ea typeface="Aptos Italic"/>
                <a:cs typeface="Aptos Italic"/>
              </a:rPr>
              <a:t>K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EAD3DE74-EE6B-403E-8204-5D41C639C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143250"/>
            <a:ext cx="238125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1430">
            <a:solidFill>
              <a:srgbClr val="7046FF"/>
            </a:solidFill>
            <a:prstDash val="dash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42DB62CB-C6E0-4C8F-A677-5A04E5213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486150"/>
            <a:ext cx="838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8233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8233F"/>
                </a:solidFill>
                <a:latin typeface="Aptos"/>
                <a:ea typeface="Aptos"/>
                <a:cs typeface="Aptos"/>
              </a:rPr>
              <a:t>V Memory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999C8791-CB87-4D33-8FD2-93233A51B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7338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FF">
              <a:alpha val="9412"/>
            </a:srgbClr>
          </a:solidFill>
          <a:ln xmlns:a="http://schemas.openxmlformats.org/drawingml/2006/main" w="15240">
            <a:solidFill>
              <a:srgbClr val="0EA5FF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BEB16E44-E185-42CE-A24E-54073A389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89572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FF">
              <a:alpha val="9412"/>
            </a:srgbClr>
          </a:solidFill>
          <a:ln xmlns:a="http://schemas.openxmlformats.org/drawingml/2006/main" w="15240">
            <a:solidFill>
              <a:srgbClr val="0EA5FF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147EDBB4-353E-4777-9A26-F2CC279E0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0576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FF">
              <a:alpha val="9412"/>
            </a:srgbClr>
          </a:solidFill>
          <a:ln xmlns:a="http://schemas.openxmlformats.org/drawingml/2006/main" w="15240">
            <a:solidFill>
              <a:srgbClr val="0EA5FF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13B9ACB5-457A-45FF-AD05-73817FE0D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21957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FF">
              <a:alpha val="9412"/>
            </a:srgbClr>
          </a:solidFill>
          <a:ln xmlns:a="http://schemas.openxmlformats.org/drawingml/2006/main" w="15240">
            <a:solidFill>
              <a:srgbClr val="0EA5FF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2F2EA9FE-7864-43A4-A439-11C0F76A6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3815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FF">
              <a:alpha val="9412"/>
            </a:srgbClr>
          </a:solidFill>
          <a:ln xmlns:a="http://schemas.openxmlformats.org/drawingml/2006/main" w="15240">
            <a:solidFill>
              <a:srgbClr val="0EA5FF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56384521-0921-485D-8C4B-07437A646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54342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FF">
              <a:alpha val="9412"/>
            </a:srgbClr>
          </a:solidFill>
          <a:ln xmlns:a="http://schemas.openxmlformats.org/drawingml/2006/main" w="15240">
            <a:solidFill>
              <a:srgbClr val="0EA5FF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997C048A-034E-45AE-A0F7-956681DC7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7053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FF">
              <a:alpha val="9412"/>
            </a:srgbClr>
          </a:solidFill>
          <a:ln xmlns:a="http://schemas.openxmlformats.org/drawingml/2006/main" w="15240">
            <a:solidFill>
              <a:srgbClr val="0EA5FF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732A91E8-B2BD-491E-BF88-2949A842E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86727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FF">
              <a:alpha val="9412"/>
            </a:srgbClr>
          </a:solidFill>
          <a:ln xmlns:a="http://schemas.openxmlformats.org/drawingml/2006/main" w="15240">
            <a:solidFill>
              <a:srgbClr val="0EA5FF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208153A3-1D81-4088-81B6-B661C221F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381500"/>
            <a:ext cx="447675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5240">
            <a:solidFill>
              <a:srgbClr val="18233F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69B1D718-6B98-43FC-993C-BB4CFD4DF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4257675"/>
            <a:ext cx="152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233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33F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76F1F9E6-9D2C-4303-B3F2-52803D514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133850"/>
            <a:ext cx="6667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F3030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766713FF-441B-4FD5-972E-9DBEBC4AE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4219575"/>
            <a:ext cx="590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18233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8233F"/>
                </a:solidFill>
                <a:latin typeface="Aptos"/>
                <a:ea typeface="Aptos"/>
                <a:cs typeface="Aptos"/>
              </a:rPr>
              <a:t>Adapter</a:t>
            </a:r>
          </a:p>
          <a:p xmlns:a="http://schemas.openxmlformats.org/drawingml/2006/main">
            <a:pPr algn="ctr">
              <a:defRPr sz="825" b="0">
                <a:solidFill>
                  <a:srgbClr val="18233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8233F"/>
                </a:solidFill>
                <a:latin typeface="Aptos"/>
                <a:ea typeface="Aptos"/>
                <a:cs typeface="Aptos"/>
              </a:rPr>
              <a:t>(Linear)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C636A247-3B00-471B-BCD4-84117BE20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381500"/>
            <a:ext cx="3429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5240">
            <a:solidFill>
              <a:srgbClr val="18233F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A39BDC9E-E0A8-4E0A-B512-D68C29E95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4257675"/>
            <a:ext cx="152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233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33F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CAFEF3D9-C944-4010-8C0D-8B4252651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7338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FF">
              <a:alpha val="9412"/>
            </a:srgbClr>
          </a:solidFill>
          <a:ln xmlns:a="http://schemas.openxmlformats.org/drawingml/2006/main" w="15240">
            <a:solidFill>
              <a:srgbClr val="0EA5FF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E66E1EBA-76B5-4928-BD4B-CDBBE4DEC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89572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FF">
              <a:alpha val="9412"/>
            </a:srgbClr>
          </a:solidFill>
          <a:ln xmlns:a="http://schemas.openxmlformats.org/drawingml/2006/main" w="15240">
            <a:solidFill>
              <a:srgbClr val="0EA5FF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94CCDF84-EB3E-4E01-AA38-8B59BE3BE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0576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FF">
              <a:alpha val="9412"/>
            </a:srgbClr>
          </a:solidFill>
          <a:ln xmlns:a="http://schemas.openxmlformats.org/drawingml/2006/main" w="15240">
            <a:solidFill>
              <a:srgbClr val="0EA5FF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5F31BDB1-F02E-43A4-9E95-3190BE85C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21957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FF">
              <a:alpha val="9412"/>
            </a:srgbClr>
          </a:solidFill>
          <a:ln xmlns:a="http://schemas.openxmlformats.org/drawingml/2006/main" w="15240">
            <a:solidFill>
              <a:srgbClr val="0EA5FF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B87FD62A-DBFC-4656-9FC7-C9143BF9E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3815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FF">
              <a:alpha val="9412"/>
            </a:srgbClr>
          </a:solidFill>
          <a:ln xmlns:a="http://schemas.openxmlformats.org/drawingml/2006/main" w="15240">
            <a:solidFill>
              <a:srgbClr val="0EA5FF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DCD9CB62-F621-4040-8AC7-2A767BD5E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54342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FF">
              <a:alpha val="9412"/>
            </a:srgbClr>
          </a:solidFill>
          <a:ln xmlns:a="http://schemas.openxmlformats.org/drawingml/2006/main" w="15240">
            <a:solidFill>
              <a:srgbClr val="0EA5FF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0CF96173-A6BC-41B6-B88E-C7E364DCC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7053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FF">
              <a:alpha val="9412"/>
            </a:srgbClr>
          </a:solidFill>
          <a:ln xmlns:a="http://schemas.openxmlformats.org/drawingml/2006/main" w="15240">
            <a:solidFill>
              <a:srgbClr val="0EA5FF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546516E2-41D8-482B-AD5F-0D608718B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86727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FF">
              <a:alpha val="9412"/>
            </a:srgbClr>
          </a:solidFill>
          <a:ln xmlns:a="http://schemas.openxmlformats.org/drawingml/2006/main" w="15240">
            <a:solidFill>
              <a:srgbClr val="0EA5FF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FA985A2F-0751-4D85-837F-28DB45555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362450"/>
            <a:ext cx="247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A5FF"/>
                </a:solidFill>
                <a:latin typeface="Aptos Italic"/>
                <a:ea typeface="Aptos Italic"/>
                <a:cs typeface="Aptos Italic"/>
              </a:defRPr>
            </a:pPr>
            <a:r>
              <a:rPr sz="1350" b="1">
                <a:solidFill>
                  <a:srgbClr val="0EA5FF"/>
                </a:solidFill>
                <a:latin typeface="Aptos Italic"/>
                <a:ea typeface="Aptos Italic"/>
                <a:cs typeface="Aptos Italic"/>
              </a:rPr>
              <a:t>V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B580E59F-40B8-431B-BF6E-500B04388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724150"/>
            <a:ext cx="1143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18233F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DB0C4977-9212-4FF3-9A26-EBA9900FD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600325"/>
            <a:ext cx="152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233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33F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09D35B47-A8F7-4489-8EB9-FC51A8BB1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143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75FB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75FB4"/>
                </a:solidFill>
                <a:latin typeface="Aptos"/>
                <a:ea typeface="Aptos"/>
                <a:cs typeface="Aptos"/>
              </a:rPr>
              <a:t>Orthogonal Merge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0F5867AB-38B3-4E29-8A46-0D343C66B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762000"/>
            <a:ext cx="2247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5FB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75FB4"/>
                </a:solidFill>
                <a:latin typeface="Aptos"/>
                <a:ea typeface="Aptos"/>
                <a:cs typeface="Aptos"/>
              </a:rPr>
              <a:t>(Merge into One K*, V* Memory)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22DA7097-F73E-49B9-B3FA-51D9C3F20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20015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046FF"/>
                </a:solidFill>
                <a:latin typeface="Aptos Italic"/>
                <a:ea typeface="Aptos Italic"/>
                <a:cs typeface="Aptos Italic"/>
              </a:defRPr>
            </a:pPr>
            <a:r>
              <a:rPr sz="750" b="0">
                <a:solidFill>
                  <a:srgbClr val="7046FF"/>
                </a:solidFill>
                <a:latin typeface="Aptos Italic"/>
                <a:ea typeface="Aptos Italic"/>
                <a:cs typeface="Aptos Italic"/>
              </a:rPr>
              <a:t>K vectors (many)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F26CAF70-0126-44AC-A94A-8F022ED47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409700"/>
            <a:ext cx="552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>
              <a:alpha val="9412"/>
            </a:srgbClr>
          </a:solidFill>
          <a:ln xmlns:a="http://schemas.openxmlformats.org/drawingml/2006/main" w="13335">
            <a:solidFill>
              <a:srgbClr val="7046FF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99CE0BD4-B878-4B1E-8A81-C8CDA8AFE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485900"/>
            <a:ext cx="752475" cy="7810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1430">
            <a:solidFill>
              <a:srgbClr val="7046FF"/>
            </a:solidFill>
            <a:prstDash val="dash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42689B81-0FA5-4261-BA14-7101880ED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790700"/>
            <a:ext cx="552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>
              <a:alpha val="9412"/>
            </a:srgbClr>
          </a:solidFill>
          <a:ln xmlns:a="http://schemas.openxmlformats.org/drawingml/2006/main" w="13335">
            <a:solidFill>
              <a:srgbClr val="7046FF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31C1C5A4-2CBD-4FC6-A039-878273FF3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866900"/>
            <a:ext cx="752475" cy="4000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1430">
            <a:solidFill>
              <a:srgbClr val="7046FF"/>
            </a:solidFill>
            <a:prstDash val="dash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31825EA8-83E8-409C-8740-642517CAE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171700"/>
            <a:ext cx="552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>
              <a:alpha val="9412"/>
            </a:srgbClr>
          </a:solidFill>
          <a:ln xmlns:a="http://schemas.openxmlformats.org/drawingml/2006/main" w="13335">
            <a:solidFill>
              <a:srgbClr val="7046FF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D7ED3D0A-9787-43C4-98AB-7592E95A7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247900"/>
            <a:ext cx="752475" cy="190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1430">
            <a:solidFill>
              <a:srgbClr val="7046FF"/>
            </a:solidFill>
            <a:prstDash val="dash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8F4CD540-C3A6-4872-8673-4A536466C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552700"/>
            <a:ext cx="552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>
              <a:alpha val="9412"/>
            </a:srgbClr>
          </a:solidFill>
          <a:ln xmlns:a="http://schemas.openxmlformats.org/drawingml/2006/main" w="13335">
            <a:solidFill>
              <a:srgbClr val="7046FF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21B6FBE0-A810-4268-8A30-A05ED2D67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628900"/>
            <a:ext cx="752475" cy="-3619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1430">
            <a:solidFill>
              <a:srgbClr val="7046FF"/>
            </a:solidFill>
            <a:prstDash val="dash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01EB369F-3B5D-42D8-99CB-6B83CCE70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466850"/>
            <a:ext cx="0" cy="15049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7145">
            <a:solidFill>
              <a:srgbClr val="18233F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FEC83EEE-EEE4-42F8-9542-295964297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971800"/>
            <a:ext cx="428625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7145">
            <a:solidFill>
              <a:srgbClr val="18233F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2BBE0A55-C9C9-4C5F-9AE0-84F3581F8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95600"/>
            <a:ext cx="476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>
              <a:alpha val="9412"/>
            </a:srgbClr>
          </a:solidFill>
          <a:ln xmlns:a="http://schemas.openxmlformats.org/drawingml/2006/main" w="13335">
            <a:solidFill>
              <a:srgbClr val="7046FF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1C9CF44A-8DA5-4534-943B-58AC85061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838450"/>
            <a:ext cx="304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7046FF"/>
                </a:solidFill>
                <a:latin typeface="Aptos Italic"/>
                <a:ea typeface="Aptos Italic"/>
                <a:cs typeface="Aptos Italic"/>
              </a:defRPr>
            </a:pPr>
            <a:r>
              <a:rPr sz="1200" b="1">
                <a:solidFill>
                  <a:srgbClr val="7046FF"/>
                </a:solidFill>
                <a:latin typeface="Aptos Italic"/>
                <a:ea typeface="Aptos Italic"/>
                <a:cs typeface="Aptos Italic"/>
              </a:rPr>
              <a:t>K*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D9F9A911-CA84-432D-BD06-AB5CE8659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143250"/>
            <a:ext cx="238125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1430">
            <a:solidFill>
              <a:srgbClr val="7046FF"/>
            </a:solidFill>
            <a:prstDash val="dash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B62BF022-033B-49F4-B348-CBCAE1A46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48615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0EA5FF"/>
                </a:solidFill>
                <a:latin typeface="Aptos Italic"/>
                <a:ea typeface="Aptos Italic"/>
                <a:cs typeface="Aptos Italic"/>
              </a:defRPr>
            </a:pPr>
            <a:r>
              <a:rPr sz="750" b="0">
                <a:solidFill>
                  <a:srgbClr val="0EA5FF"/>
                </a:solidFill>
                <a:latin typeface="Aptos Italic"/>
                <a:ea typeface="Aptos Italic"/>
                <a:cs typeface="Aptos Italic"/>
              </a:rPr>
              <a:t>V vectors (many)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0ADA2677-2017-4CC7-9F4D-36F276567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714750"/>
            <a:ext cx="552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FF">
              <a:alpha val="9412"/>
            </a:srgbClr>
          </a:solidFill>
          <a:ln xmlns:a="http://schemas.openxmlformats.org/drawingml/2006/main" w="13335">
            <a:solidFill>
              <a:srgbClr val="0EA5FF"/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F8C6F0B1-4DB9-4542-B946-23BC5471D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790950"/>
            <a:ext cx="752475" cy="7810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1430">
            <a:solidFill>
              <a:srgbClr val="0EA5FF"/>
            </a:solidFill>
            <a:prstDash val="dash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65C076E0-482A-44D2-A083-D0E3B9FDA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095750"/>
            <a:ext cx="552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FF">
              <a:alpha val="9412"/>
            </a:srgbClr>
          </a:solidFill>
          <a:ln xmlns:a="http://schemas.openxmlformats.org/drawingml/2006/main" w="13335">
            <a:solidFill>
              <a:srgbClr val="0EA5FF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3F96E9AE-3E8A-4BA0-9A14-F08F96252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171950"/>
            <a:ext cx="752475" cy="4000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1430">
            <a:solidFill>
              <a:srgbClr val="0EA5FF"/>
            </a:solidFill>
            <a:prstDash val="dash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3D8A3AEF-5132-4655-8A91-2D325E582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476750"/>
            <a:ext cx="552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FF">
              <a:alpha val="9412"/>
            </a:srgbClr>
          </a:solidFill>
          <a:ln xmlns:a="http://schemas.openxmlformats.org/drawingml/2006/main" w="13335">
            <a:solidFill>
              <a:srgbClr val="0EA5FF"/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CE64B181-6E16-4873-9742-5C6DE16E4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552950"/>
            <a:ext cx="752475" cy="190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1430">
            <a:solidFill>
              <a:srgbClr val="0EA5FF"/>
            </a:solidFill>
            <a:prstDash val="dash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C8F47A8B-BAC4-41AE-A47B-8118E86A7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857750"/>
            <a:ext cx="552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FF">
              <a:alpha val="9412"/>
            </a:srgbClr>
          </a:solidFill>
          <a:ln xmlns:a="http://schemas.openxmlformats.org/drawingml/2006/main" w="13335">
            <a:solidFill>
              <a:srgbClr val="0EA5FF"/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632458E2-B82A-43A6-94A6-D34271A43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933950"/>
            <a:ext cx="752475" cy="-3619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1430">
            <a:solidFill>
              <a:srgbClr val="0EA5FF"/>
            </a:solidFill>
            <a:prstDash val="dash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13825989-BB1F-4A69-A90C-2018FC2C7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752850"/>
            <a:ext cx="0" cy="12001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7145">
            <a:solidFill>
              <a:srgbClr val="18233F"/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D0341A03-7CFC-46FC-BBE7-CF579ABFD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953000"/>
            <a:ext cx="428625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7145">
            <a:solidFill>
              <a:srgbClr val="18233F"/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60B79D3F-A16E-4449-9078-181A03A8F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876800"/>
            <a:ext cx="476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FF">
              <a:alpha val="9412"/>
            </a:srgbClr>
          </a:solidFill>
          <a:ln xmlns:a="http://schemas.openxmlformats.org/drawingml/2006/main" w="13335">
            <a:solidFill>
              <a:srgbClr val="0EA5FF"/>
            </a:solidFill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A54A3331-49A4-4DB2-80AF-78DBAFF7C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819650"/>
            <a:ext cx="304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EA5FF"/>
                </a:solidFill>
                <a:latin typeface="Aptos Italic"/>
                <a:ea typeface="Aptos Italic"/>
                <a:cs typeface="Aptos Italic"/>
              </a:defRPr>
            </a:pPr>
            <a:r>
              <a:rPr sz="1200" b="1">
                <a:solidFill>
                  <a:srgbClr val="0EA5FF"/>
                </a:solidFill>
                <a:latin typeface="Aptos Italic"/>
                <a:ea typeface="Aptos Italic"/>
                <a:cs typeface="Aptos Italic"/>
              </a:rPr>
              <a:t>V*</a:t>
            </a:r>
          </a:p>
        </p:txBody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6BDA1757-3494-4863-86CE-316C4CB6C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514350"/>
            <a:ext cx="11620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33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8233F"/>
                </a:solidFill>
                <a:latin typeface="Aptos"/>
                <a:ea typeface="Aptos"/>
                <a:cs typeface="Aptos"/>
              </a:rPr>
              <a:t>Inject into</a:t>
            </a:r>
          </a:p>
          <a:p xmlns:a="http://schemas.openxmlformats.org/drawingml/2006/main">
            <a:pPr algn="ctr">
              <a:defRPr sz="1050" b="1">
                <a:solidFill>
                  <a:srgbClr val="18233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8233F"/>
                </a:solidFill>
                <a:latin typeface="Aptos"/>
                <a:ea typeface="Aptos"/>
                <a:cs typeface="Aptos"/>
              </a:rPr>
              <a:t>Frozen LLM</a:t>
            </a:r>
          </a:p>
        </p:txBody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9C305BD8-C9CD-43B4-A003-63632A67E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121920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458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458FF"/>
                </a:solidFill>
                <a:latin typeface="Aptos"/>
                <a:ea typeface="Aptos"/>
                <a:cs typeface="Aptos"/>
              </a:rPr>
              <a:t>Frozen LLM</a:t>
            </a:r>
          </a:p>
        </p:txBody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77EA4D22-2170-4806-B4BC-85FB898FB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16205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458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2458FF"/>
                </a:solidFill>
                <a:latin typeface="Aptos"/>
                <a:ea typeface="Aptos"/>
                <a:cs typeface="Aptos"/>
              </a:rPr>
              <a:t>*</a:t>
            </a:r>
          </a:p>
        </p:txBody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FFFEE31B-3479-4B5A-88C8-220C42981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809750"/>
            <a:ext cx="1143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A94A8"/>
            </a:solidFill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036CCA4D-9C70-4639-AB73-F151127EB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1943100"/>
            <a:ext cx="95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33F"/>
                </a:solidFill>
                <a:latin typeface="Aptos Italic"/>
                <a:ea typeface="Aptos Italic"/>
                <a:cs typeface="Aptos Italic"/>
              </a:defRPr>
            </a:pPr>
            <a:r>
              <a:rPr sz="975" b="0">
                <a:solidFill>
                  <a:srgbClr val="18233F"/>
                </a:solidFill>
                <a:latin typeface="Aptos Italic"/>
                <a:ea typeface="Aptos Italic"/>
                <a:cs typeface="Aptos Italic"/>
              </a:rPr>
              <a:t>Layer l + 1</a:t>
            </a:r>
          </a:p>
        </p:txBody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ADB429E5-EA66-44CD-9074-06FF843FD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381250"/>
            <a:ext cx="0" cy="30480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5240">
            <a:solidFill>
              <a:srgbClr val="8A94A8"/>
            </a:solidFill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3E3BCD04-31EE-44B5-91B2-D80A1CF87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2609850"/>
            <a:ext cx="152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8A94A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8A94A8"/>
                </a:solidFill>
                <a:latin typeface="Aptos"/>
                <a:ea typeface="Aptos"/>
                <a:cs typeface="Aptos"/>
              </a:rPr>
              <a:t>v</a:t>
            </a:r>
          </a:p>
        </p:txBody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B74FF271-3185-4C93-8B17-FFC00B40D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781300"/>
            <a:ext cx="1143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8FF"/>
            </a:solidFill>
            <a:prstDash val="solid"/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58EBC88D-791F-4A3D-B121-5B22EF274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895600"/>
            <a:ext cx="95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5FB4"/>
                </a:solidFill>
                <a:latin typeface="Aptos Italic"/>
                <a:ea typeface="Aptos Italic"/>
                <a:cs typeface="Aptos Italic"/>
              </a:defRPr>
            </a:pPr>
            <a:r>
              <a:rPr sz="975" b="1">
                <a:solidFill>
                  <a:srgbClr val="075FB4"/>
                </a:solidFill>
                <a:latin typeface="Aptos Italic"/>
                <a:ea typeface="Aptos Italic"/>
                <a:cs typeface="Aptos Italic"/>
              </a:rPr>
              <a:t>Layer l</a:t>
            </a:r>
          </a:p>
          <a:p xmlns:a="http://schemas.openxmlformats.org/drawingml/2006/main">
            <a:pPr algn="ctr">
              <a:defRPr sz="975" b="1">
                <a:solidFill>
                  <a:srgbClr val="075FB4"/>
                </a:solidFill>
                <a:latin typeface="Aptos Italic"/>
                <a:ea typeface="Aptos Italic"/>
                <a:cs typeface="Aptos Italic"/>
              </a:defRPr>
            </a:pPr>
            <a:r>
              <a:rPr sz="975" b="1">
                <a:solidFill>
                  <a:srgbClr val="075FB4"/>
                </a:solidFill>
                <a:latin typeface="Aptos Italic"/>
                <a:ea typeface="Aptos Italic"/>
                <a:cs typeface="Aptos Italic"/>
              </a:rPr>
              <a:t>(Attention)</a:t>
            </a:r>
          </a:p>
        </p:txBody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21F84CC0-8601-4269-93C5-A39ED1634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429000"/>
            <a:ext cx="0" cy="2857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5240">
            <a:solidFill>
              <a:srgbClr val="8A94A8"/>
            </a:solidFill>
            <a:prstDash val="solid"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5209214E-A658-4062-9EAB-6375C8B84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3638550"/>
            <a:ext cx="152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8A94A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8A94A8"/>
                </a:solidFill>
                <a:latin typeface="Aptos"/>
                <a:ea typeface="Aptos"/>
                <a:cs typeface="Aptos"/>
              </a:rPr>
              <a:t>v</a:t>
            </a:r>
          </a:p>
        </p:txBody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41F13483-C615-44FB-9B4C-38329D438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810000"/>
            <a:ext cx="1143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A94A8"/>
            </a:solidFill>
            <a:prstDash val="solid"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BD2B214C-39EE-4299-B5B1-B9239AD62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943350"/>
            <a:ext cx="95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33F"/>
                </a:solidFill>
                <a:latin typeface="Aptos Italic"/>
                <a:ea typeface="Aptos Italic"/>
                <a:cs typeface="Aptos Italic"/>
              </a:defRPr>
            </a:pPr>
            <a:r>
              <a:rPr sz="975" b="0">
                <a:solidFill>
                  <a:srgbClr val="18233F"/>
                </a:solidFill>
                <a:latin typeface="Aptos Italic"/>
                <a:ea typeface="Aptos Italic"/>
                <a:cs typeface="Aptos Italic"/>
              </a:rPr>
              <a:t>Layer l - 1</a:t>
            </a:r>
          </a:p>
        </p:txBody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E546B878-7324-4A23-8902-DE26672C3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971800"/>
            <a:ext cx="1905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7046FF"/>
            </a:solidFill>
            <a:prstDash val="solid"/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2D022DB9-3626-416F-BD72-03A75A7BD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971800"/>
            <a:ext cx="28575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7046FF"/>
            </a:solidFill>
            <a:prstDash val="solid"/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40FA892B-039D-44EB-9EDB-3CFDF7AE8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953000"/>
            <a:ext cx="1905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0EA5FF"/>
            </a:solidFill>
            <a:prstDash val="solid"/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6AA20479-28ED-457A-B520-004F1D6D9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162300"/>
            <a:ext cx="0" cy="179070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0EA5FF"/>
            </a:solidFill>
            <a:prstDash val="solid"/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EB0E2A1A-8262-4392-90DE-51A9DAC7E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162300"/>
            <a:ext cx="28575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0EA5FF"/>
            </a:solidFill>
            <a:prstDash val="solid"/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653948BB-0DBE-4B74-A699-6ADD9E931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076575"/>
            <a:ext cx="3048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18233F"/>
            </a:solidFill>
            <a:prstDash val="solid"/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763B9523-AD83-4442-9377-7430A7233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6675" y="2952750"/>
            <a:ext cx="152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233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33F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E060E019-0AE9-4A08-8614-03F674E30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6700" y="278130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2458FF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2458FF"/>
                </a:solidFill>
                <a:latin typeface="Aptos"/>
                <a:ea typeface="Aptos"/>
                <a:cs typeface="Aptos"/>
              </a:rPr>
              <a:t>Answer</a:t>
            </a:r>
          </a:p>
        </p:txBody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FD1D762B-1413-4EC3-9A84-B515754FB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3028950"/>
            <a:ext cx="247650" cy="3619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8FF"/>
            </a:solidFill>
            <a:prstDash val="solid"/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551098B7-6D27-4E29-B4D1-257AC66C3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49100" y="3219450"/>
            <a:ext cx="13335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2383">
            <a:solidFill>
              <a:srgbClr val="2458FF"/>
            </a:solidFill>
            <a:prstDash val="solid"/>
          </a:ln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3F25B359-32AB-4561-B30E-08E314C3E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49100" y="3314700"/>
            <a:ext cx="13335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2383">
            <a:solidFill>
              <a:srgbClr val="2458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9608264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2026-05-26T04:23:54.5550000Z</dcterms:created>
  <dcterms:modified xsi:type="dcterms:W3CDTF">2026-05-26T04:23:54.5550000Z</dcterms:modified>
</coreProperties>
</file>